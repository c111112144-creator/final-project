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8" r:id="rId2"/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D53847-F8EB-4748-8D3F-B5D876120075}" type="doc">
      <dgm:prSet loTypeId="urn:microsoft.com/office/officeart/2005/8/layout/chevron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94EF26C6-01D0-4072-A299-58F02A851695}">
      <dgm:prSet phldrT="[文字]"/>
      <dgm:spPr/>
      <dgm:t>
        <a:bodyPr/>
        <a:lstStyle/>
        <a:p>
          <a:r>
            <a:rPr lang="zh-TW" altLang="en-US" dirty="0"/>
            <a:t>軟體模擬</a:t>
          </a:r>
        </a:p>
      </dgm:t>
    </dgm:pt>
    <dgm:pt modelId="{D54EA7C7-BB91-44A2-87AD-96522058BC03}" type="parTrans" cxnId="{F579A96F-0F3F-465C-8A57-A51C104792A1}">
      <dgm:prSet/>
      <dgm:spPr/>
      <dgm:t>
        <a:bodyPr/>
        <a:lstStyle/>
        <a:p>
          <a:endParaRPr lang="zh-TW" altLang="en-US"/>
        </a:p>
      </dgm:t>
    </dgm:pt>
    <dgm:pt modelId="{3EABE8B0-4FDF-4113-A10F-F083D5669125}" type="sibTrans" cxnId="{F579A96F-0F3F-465C-8A57-A51C104792A1}">
      <dgm:prSet/>
      <dgm:spPr/>
      <dgm:t>
        <a:bodyPr/>
        <a:lstStyle/>
        <a:p>
          <a:endParaRPr lang="zh-TW" altLang="en-US"/>
        </a:p>
      </dgm:t>
    </dgm:pt>
    <dgm:pt modelId="{853B8FC3-6C18-4D42-A9A0-A94FAE4316BD}">
      <dgm:prSet phldrT="[文字]" custT="1"/>
      <dgm:spPr/>
      <dgm:t>
        <a:bodyPr/>
        <a:lstStyle/>
        <a:p>
          <a:r>
            <a:rPr lang="en-US" altLang="zh-TW" sz="1400" dirty="0"/>
            <a:t>1.</a:t>
          </a:r>
          <a:r>
            <a:rPr lang="zh-TW" altLang="en-US" sz="1400" dirty="0"/>
            <a:t>顏色預篩選（候選區域提取）</a:t>
          </a:r>
        </a:p>
      </dgm:t>
    </dgm:pt>
    <dgm:pt modelId="{9784A418-8645-49E3-8545-07B968611DD3}" type="parTrans" cxnId="{8BD8DF56-B65B-4FA9-860A-56BA1334ED2F}">
      <dgm:prSet/>
      <dgm:spPr/>
      <dgm:t>
        <a:bodyPr/>
        <a:lstStyle/>
        <a:p>
          <a:endParaRPr lang="zh-TW" altLang="en-US"/>
        </a:p>
      </dgm:t>
    </dgm:pt>
    <dgm:pt modelId="{CAC6E122-09F5-4EF7-8353-3E30136AC62B}" type="sibTrans" cxnId="{8BD8DF56-B65B-4FA9-860A-56BA1334ED2F}">
      <dgm:prSet/>
      <dgm:spPr/>
      <dgm:t>
        <a:bodyPr/>
        <a:lstStyle/>
        <a:p>
          <a:endParaRPr lang="zh-TW" altLang="en-US"/>
        </a:p>
      </dgm:t>
    </dgm:pt>
    <dgm:pt modelId="{5C91FFA3-B431-4EDF-9E66-ED99684533B3}">
      <dgm:prSet phldrT="[文字]"/>
      <dgm:spPr/>
      <dgm:t>
        <a:bodyPr/>
        <a:lstStyle/>
        <a:p>
          <a:r>
            <a:rPr lang="zh-TW" altLang="en-US" dirty="0"/>
            <a:t>階段性技術驗證</a:t>
          </a:r>
        </a:p>
      </dgm:t>
    </dgm:pt>
    <dgm:pt modelId="{6258E617-F8FC-42B6-93BC-32FADC5A4453}" type="parTrans" cxnId="{7CE9D94C-D362-4823-BECC-04E3B57E3213}">
      <dgm:prSet/>
      <dgm:spPr/>
      <dgm:t>
        <a:bodyPr/>
        <a:lstStyle/>
        <a:p>
          <a:endParaRPr lang="zh-TW" altLang="en-US"/>
        </a:p>
      </dgm:t>
    </dgm:pt>
    <dgm:pt modelId="{9366DC8D-ADC3-46D8-BABB-0EEBA96F9F55}" type="sibTrans" cxnId="{7CE9D94C-D362-4823-BECC-04E3B57E3213}">
      <dgm:prSet/>
      <dgm:spPr/>
      <dgm:t>
        <a:bodyPr/>
        <a:lstStyle/>
        <a:p>
          <a:endParaRPr lang="zh-TW" altLang="en-US"/>
        </a:p>
      </dgm:t>
    </dgm:pt>
    <dgm:pt modelId="{DDCEB072-B48B-438E-97A5-FA24B872312C}">
      <dgm:prSet phldrT="[文字]" custT="1"/>
      <dgm:spPr/>
      <dgm:t>
        <a:bodyPr/>
        <a:lstStyle/>
        <a:p>
          <a:r>
            <a:rPr lang="en-US" altLang="zh-TW" sz="1600" dirty="0"/>
            <a:t>1.</a:t>
          </a:r>
          <a:r>
            <a:rPr lang="zh-TW" altLang="en-US" sz="1600" dirty="0"/>
            <a:t>使用</a:t>
          </a:r>
          <a:r>
            <a:rPr lang="en-US" altLang="zh-TW" sz="1600" dirty="0"/>
            <a:t>FPGA</a:t>
          </a:r>
          <a:r>
            <a:rPr lang="zh-TW" altLang="en-US" sz="1600" dirty="0"/>
            <a:t>連接螢幕播放影片</a:t>
          </a:r>
        </a:p>
      </dgm:t>
    </dgm:pt>
    <dgm:pt modelId="{0A0A4130-995A-4726-8567-87C41E2F4725}" type="parTrans" cxnId="{D2C1F4CD-128C-413F-9B1B-5D32B7F05DFD}">
      <dgm:prSet/>
      <dgm:spPr/>
      <dgm:t>
        <a:bodyPr/>
        <a:lstStyle/>
        <a:p>
          <a:endParaRPr lang="zh-TW" altLang="en-US"/>
        </a:p>
      </dgm:t>
    </dgm:pt>
    <dgm:pt modelId="{353D8F1D-8474-4F02-B8B9-AF966D9EA4AF}" type="sibTrans" cxnId="{D2C1F4CD-128C-413F-9B1B-5D32B7F05DFD}">
      <dgm:prSet/>
      <dgm:spPr/>
      <dgm:t>
        <a:bodyPr/>
        <a:lstStyle/>
        <a:p>
          <a:endParaRPr lang="zh-TW" altLang="en-US"/>
        </a:p>
      </dgm:t>
    </dgm:pt>
    <dgm:pt modelId="{0415AC45-1A08-4C04-B251-4B1D84A133B2}">
      <dgm:prSet custT="1"/>
      <dgm:spPr/>
      <dgm:t>
        <a:bodyPr/>
        <a:lstStyle/>
        <a:p>
          <a:r>
            <a:rPr lang="en-US" altLang="zh-TW" sz="1400" dirty="0"/>
            <a:t>2.</a:t>
          </a:r>
          <a:r>
            <a:rPr lang="zh-TW" altLang="en-US" sz="1400" dirty="0"/>
            <a:t>計算密集光流（</a:t>
          </a:r>
          <a:r>
            <a:rPr lang="en-US" altLang="zh-TW" sz="1400" dirty="0"/>
            <a:t>Dense Optical Flow</a:t>
          </a:r>
          <a:r>
            <a:rPr lang="zh-TW" altLang="en-US" sz="1400" dirty="0"/>
            <a:t>）</a:t>
          </a:r>
        </a:p>
      </dgm:t>
    </dgm:pt>
    <dgm:pt modelId="{701B7F07-C57D-432E-8ACD-9581F338B142}" type="parTrans" cxnId="{4E2E9EA9-C623-49E2-B052-03D6ECBC3AA7}">
      <dgm:prSet/>
      <dgm:spPr/>
      <dgm:t>
        <a:bodyPr/>
        <a:lstStyle/>
        <a:p>
          <a:endParaRPr lang="zh-TW" altLang="en-US"/>
        </a:p>
      </dgm:t>
    </dgm:pt>
    <dgm:pt modelId="{A624AF54-97EB-4A70-9095-D526D0A70695}" type="sibTrans" cxnId="{4E2E9EA9-C623-49E2-B052-03D6ECBC3AA7}">
      <dgm:prSet/>
      <dgm:spPr/>
      <dgm:t>
        <a:bodyPr/>
        <a:lstStyle/>
        <a:p>
          <a:endParaRPr lang="zh-TW" altLang="en-US"/>
        </a:p>
      </dgm:t>
    </dgm:pt>
    <dgm:pt modelId="{782001A8-E59E-4B48-BFB6-96FEE77EB510}">
      <dgm:prSet custT="1"/>
      <dgm:spPr/>
      <dgm:t>
        <a:bodyPr/>
        <a:lstStyle/>
        <a:p>
          <a:r>
            <a:rPr lang="en-US" altLang="zh-TW" sz="1400" dirty="0"/>
            <a:t>3.</a:t>
          </a:r>
          <a:r>
            <a:rPr lang="zh-TW" altLang="en-US" sz="1400" dirty="0"/>
            <a:t>特徵提取與判斷</a:t>
          </a:r>
        </a:p>
      </dgm:t>
    </dgm:pt>
    <dgm:pt modelId="{A285789A-82D0-43B6-B253-FD45D0F3A6E9}" type="parTrans" cxnId="{C9FBCC55-2C41-4E23-AD07-63547A83BDDA}">
      <dgm:prSet/>
      <dgm:spPr/>
      <dgm:t>
        <a:bodyPr/>
        <a:lstStyle/>
        <a:p>
          <a:endParaRPr lang="zh-TW" altLang="en-US"/>
        </a:p>
      </dgm:t>
    </dgm:pt>
    <dgm:pt modelId="{6BEB6B7A-B6E9-4CC9-8069-AD972A5BDD85}" type="sibTrans" cxnId="{C9FBCC55-2C41-4E23-AD07-63547A83BDDA}">
      <dgm:prSet/>
      <dgm:spPr/>
      <dgm:t>
        <a:bodyPr/>
        <a:lstStyle/>
        <a:p>
          <a:endParaRPr lang="zh-TW" altLang="en-US"/>
        </a:p>
      </dgm:t>
    </dgm:pt>
    <dgm:pt modelId="{FFB42A93-7BE5-4293-9D1E-5291482F849E}">
      <dgm:prSet custT="1"/>
      <dgm:spPr/>
      <dgm:t>
        <a:bodyPr/>
        <a:lstStyle/>
        <a:p>
          <a:r>
            <a:rPr lang="en-US" altLang="zh-TW" sz="1600" dirty="0"/>
            <a:t>2.</a:t>
          </a:r>
          <a:r>
            <a:rPr lang="zh-TW" altLang="en-US" sz="1600" dirty="0"/>
            <a:t>播放影片時讓紅色方框在畫面上移動</a:t>
          </a:r>
          <a:endParaRPr lang="en-US" altLang="zh-TW" sz="1600" dirty="0"/>
        </a:p>
      </dgm:t>
    </dgm:pt>
    <dgm:pt modelId="{451A91BF-3696-4267-B90B-B316DEF22FA6}" type="parTrans" cxnId="{5F2D929B-1452-403D-B611-12B0939DE21C}">
      <dgm:prSet/>
      <dgm:spPr/>
      <dgm:t>
        <a:bodyPr/>
        <a:lstStyle/>
        <a:p>
          <a:endParaRPr lang="zh-TW" altLang="en-US"/>
        </a:p>
      </dgm:t>
    </dgm:pt>
    <dgm:pt modelId="{79B382CE-5461-4334-AB7E-FB2D615F85D4}" type="sibTrans" cxnId="{5F2D929B-1452-403D-B611-12B0939DE21C}">
      <dgm:prSet/>
      <dgm:spPr/>
      <dgm:t>
        <a:bodyPr/>
        <a:lstStyle/>
        <a:p>
          <a:endParaRPr lang="zh-TW" altLang="en-US"/>
        </a:p>
      </dgm:t>
    </dgm:pt>
    <dgm:pt modelId="{744F7B0F-4C12-4C02-9150-6A7A7569C726}">
      <dgm:prSet custT="1"/>
      <dgm:spPr/>
      <dgm:t>
        <a:bodyPr/>
        <a:lstStyle/>
        <a:p>
          <a:r>
            <a:rPr lang="en-US" altLang="zh-TW" sz="1600" dirty="0"/>
            <a:t>3.</a:t>
          </a:r>
          <a:r>
            <a:rPr lang="zh-TW" altLang="en-US" sz="1600" dirty="0"/>
            <a:t>將程式轉為硬體描述語言並進行模擬</a:t>
          </a:r>
          <a:r>
            <a:rPr lang="en-US" altLang="zh-TW" sz="1600" dirty="0"/>
            <a:t>(</a:t>
          </a:r>
          <a:r>
            <a:rPr lang="zh-TW" altLang="en-US" sz="1600" dirty="0"/>
            <a:t>輸出方框的</a:t>
          </a:r>
          <a:r>
            <a:rPr lang="en-US" altLang="zh-TW" sz="1600" dirty="0"/>
            <a:t>XY</a:t>
          </a:r>
          <a:r>
            <a:rPr lang="zh-TW" altLang="en-US" sz="1600" dirty="0"/>
            <a:t>位置</a:t>
          </a:r>
          <a:r>
            <a:rPr lang="en-US" altLang="zh-TW" sz="1600" dirty="0"/>
            <a:t>)</a:t>
          </a:r>
          <a:endParaRPr lang="zh-TW" altLang="en-US" sz="1600" dirty="0"/>
        </a:p>
      </dgm:t>
    </dgm:pt>
    <dgm:pt modelId="{A36A92E6-BD0A-420C-9CF3-8898D2709982}" type="parTrans" cxnId="{CE09F15F-2409-4A67-9A3D-2B14D599FA2D}">
      <dgm:prSet/>
      <dgm:spPr/>
      <dgm:t>
        <a:bodyPr/>
        <a:lstStyle/>
        <a:p>
          <a:endParaRPr lang="zh-TW" altLang="en-US"/>
        </a:p>
      </dgm:t>
    </dgm:pt>
    <dgm:pt modelId="{4AF8555F-A873-4F89-A54F-1AC8527F787F}" type="sibTrans" cxnId="{CE09F15F-2409-4A67-9A3D-2B14D599FA2D}">
      <dgm:prSet/>
      <dgm:spPr/>
      <dgm:t>
        <a:bodyPr/>
        <a:lstStyle/>
        <a:p>
          <a:endParaRPr lang="zh-TW" altLang="en-US"/>
        </a:p>
      </dgm:t>
    </dgm:pt>
    <dgm:pt modelId="{C39C6D62-C906-4EF0-AD23-89DB874CF774}">
      <dgm:prSet custT="1"/>
      <dgm:spPr/>
      <dgm:t>
        <a:bodyPr/>
        <a:lstStyle/>
        <a:p>
          <a:r>
            <a:rPr lang="en-US" altLang="zh-TW" sz="1600" dirty="0"/>
            <a:t>4.</a:t>
          </a:r>
          <a:r>
            <a:rPr lang="zh-TW" altLang="en-US" sz="1600" dirty="0"/>
            <a:t>完成專案，讓方框鎖定在影片中火焰的位置，若出錯則回上一步</a:t>
          </a:r>
        </a:p>
      </dgm:t>
    </dgm:pt>
    <dgm:pt modelId="{5ACFAE5F-4333-491E-BE9F-2934D9185DA6}" type="parTrans" cxnId="{5B57F451-5771-4090-82B7-F2D312AFFE7A}">
      <dgm:prSet/>
      <dgm:spPr/>
      <dgm:t>
        <a:bodyPr/>
        <a:lstStyle/>
        <a:p>
          <a:endParaRPr lang="zh-TW" altLang="en-US"/>
        </a:p>
      </dgm:t>
    </dgm:pt>
    <dgm:pt modelId="{D6632F10-0873-4D98-932A-A73D0EFEB7B6}" type="sibTrans" cxnId="{5B57F451-5771-4090-82B7-F2D312AFFE7A}">
      <dgm:prSet/>
      <dgm:spPr/>
      <dgm:t>
        <a:bodyPr/>
        <a:lstStyle/>
        <a:p>
          <a:endParaRPr lang="zh-TW" altLang="en-US"/>
        </a:p>
      </dgm:t>
    </dgm:pt>
    <dgm:pt modelId="{BC2C778E-414B-412B-B107-1AB73F2CB8BC}">
      <dgm:prSet custT="1"/>
      <dgm:spPr/>
      <dgm:t>
        <a:bodyPr/>
        <a:lstStyle/>
        <a:p>
          <a:pPr>
            <a:buNone/>
          </a:pPr>
          <a:r>
            <a:rPr lang="zh-TW" altLang="en-US" sz="1400" b="0" dirty="0"/>
            <a:t>使用 </a:t>
          </a:r>
          <a:r>
            <a:rPr lang="en-US" altLang="zh-TW" sz="1400" b="0" dirty="0"/>
            <a:t>Gunnar </a:t>
          </a:r>
          <a:r>
            <a:rPr lang="en-US" altLang="zh-TW" sz="1400" b="0" dirty="0" err="1"/>
            <a:t>Farneback</a:t>
          </a:r>
          <a:r>
            <a:rPr lang="en-US" altLang="zh-TW" sz="1400" b="0" dirty="0"/>
            <a:t> </a:t>
          </a:r>
          <a:r>
            <a:rPr lang="zh-TW" altLang="en-US" sz="1400" b="0" dirty="0"/>
            <a:t>演算法（</a:t>
          </a:r>
          <a:r>
            <a:rPr lang="en-US" altLang="zh-TW" sz="1400" b="0" dirty="0"/>
            <a:t>OpenCV </a:t>
          </a:r>
          <a:r>
            <a:rPr lang="zh-TW" altLang="en-US" sz="1400" b="0" dirty="0"/>
            <a:t>中內建）</a:t>
          </a:r>
          <a:endParaRPr lang="zh-TW" altLang="en-US" sz="1400" dirty="0"/>
        </a:p>
      </dgm:t>
    </dgm:pt>
    <dgm:pt modelId="{557E0A29-03B8-48FF-9CD9-29FC96F9BB2D}" type="parTrans" cxnId="{541FC1C7-DEEF-483A-89FF-9572BD7FAFB2}">
      <dgm:prSet/>
      <dgm:spPr/>
      <dgm:t>
        <a:bodyPr/>
        <a:lstStyle/>
        <a:p>
          <a:endParaRPr lang="zh-TW" altLang="en-US"/>
        </a:p>
      </dgm:t>
    </dgm:pt>
    <dgm:pt modelId="{98FAA26E-5AD3-422B-AF4D-263B5A0EA336}" type="sibTrans" cxnId="{541FC1C7-DEEF-483A-89FF-9572BD7FAFB2}">
      <dgm:prSet/>
      <dgm:spPr/>
      <dgm:t>
        <a:bodyPr/>
        <a:lstStyle/>
        <a:p>
          <a:endParaRPr lang="zh-TW" altLang="en-US"/>
        </a:p>
      </dgm:t>
    </dgm:pt>
    <dgm:pt modelId="{4C8E0CD1-C0A6-4ED5-BF98-E2A3C66FC9B5}">
      <dgm:prSet phldrT="[文字]" custT="1"/>
      <dgm:spPr/>
      <dgm:t>
        <a:bodyPr/>
        <a:lstStyle/>
        <a:p>
          <a:pPr>
            <a:buNone/>
          </a:pPr>
          <a:r>
            <a:rPr lang="zh-TW" altLang="en-US" sz="1400" dirty="0"/>
            <a:t>火一定有紅色</a:t>
          </a:r>
        </a:p>
      </dgm:t>
    </dgm:pt>
    <dgm:pt modelId="{B75DB508-4CB1-4B98-93C2-D6695686F10D}" type="parTrans" cxnId="{E0CFA7E9-2703-4DF3-8900-72BCFC780A1A}">
      <dgm:prSet/>
      <dgm:spPr/>
      <dgm:t>
        <a:bodyPr/>
        <a:lstStyle/>
        <a:p>
          <a:endParaRPr lang="zh-TW" altLang="en-US"/>
        </a:p>
      </dgm:t>
    </dgm:pt>
    <dgm:pt modelId="{E51D4050-2685-49E8-BCB9-D23E02272615}" type="sibTrans" cxnId="{E0CFA7E9-2703-4DF3-8900-72BCFC780A1A}">
      <dgm:prSet/>
      <dgm:spPr/>
      <dgm:t>
        <a:bodyPr/>
        <a:lstStyle/>
        <a:p>
          <a:endParaRPr lang="zh-TW" altLang="en-US"/>
        </a:p>
      </dgm:t>
    </dgm:pt>
    <dgm:pt modelId="{FF8DF1FE-9A44-4473-8E42-498196CA08DB}">
      <dgm:prSet custT="1"/>
      <dgm:spPr/>
      <dgm:t>
        <a:bodyPr/>
        <a:lstStyle/>
        <a:p>
          <a:pPr>
            <a:buNone/>
          </a:pPr>
          <a:r>
            <a:rPr lang="zh-TW" altLang="en-US" sz="1400" dirty="0"/>
            <a:t>詳細作法在下一頁講解</a:t>
          </a:r>
        </a:p>
      </dgm:t>
    </dgm:pt>
    <dgm:pt modelId="{2E99EA61-AFEF-446E-B39B-F16C612293B0}" type="parTrans" cxnId="{441DDA86-B6C6-474D-ACDC-9EF1BBB0C5F5}">
      <dgm:prSet/>
      <dgm:spPr/>
      <dgm:t>
        <a:bodyPr/>
        <a:lstStyle/>
        <a:p>
          <a:endParaRPr lang="zh-TW" altLang="en-US"/>
        </a:p>
      </dgm:t>
    </dgm:pt>
    <dgm:pt modelId="{05968608-53D3-4368-B772-E1FED0A7F4F3}" type="sibTrans" cxnId="{441DDA86-B6C6-474D-ACDC-9EF1BBB0C5F5}">
      <dgm:prSet/>
      <dgm:spPr/>
      <dgm:t>
        <a:bodyPr/>
        <a:lstStyle/>
        <a:p>
          <a:endParaRPr lang="zh-TW" altLang="en-US"/>
        </a:p>
      </dgm:t>
    </dgm:pt>
    <dgm:pt modelId="{5F94363B-0B9F-4F93-A923-B51CCD0D41E6}" type="pres">
      <dgm:prSet presAssocID="{9BD53847-F8EB-4748-8D3F-B5D876120075}" presName="linearFlow" presStyleCnt="0">
        <dgm:presLayoutVars>
          <dgm:dir/>
          <dgm:animLvl val="lvl"/>
          <dgm:resizeHandles val="exact"/>
        </dgm:presLayoutVars>
      </dgm:prSet>
      <dgm:spPr/>
    </dgm:pt>
    <dgm:pt modelId="{EEB109D6-BF7A-47E4-8657-16441790ABDA}" type="pres">
      <dgm:prSet presAssocID="{94EF26C6-01D0-4072-A299-58F02A851695}" presName="composite" presStyleCnt="0"/>
      <dgm:spPr/>
    </dgm:pt>
    <dgm:pt modelId="{C6F19009-2D8C-4EFE-A399-9339032F08FC}" type="pres">
      <dgm:prSet presAssocID="{94EF26C6-01D0-4072-A299-58F02A851695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E2432EB5-EF9E-476A-A43B-3956E08B5351}" type="pres">
      <dgm:prSet presAssocID="{94EF26C6-01D0-4072-A299-58F02A851695}" presName="descendantText" presStyleLbl="alignAcc1" presStyleIdx="0" presStyleCnt="2">
        <dgm:presLayoutVars>
          <dgm:bulletEnabled val="1"/>
        </dgm:presLayoutVars>
      </dgm:prSet>
      <dgm:spPr/>
    </dgm:pt>
    <dgm:pt modelId="{D738F40A-1BE9-4306-8894-4E0151816922}" type="pres">
      <dgm:prSet presAssocID="{3EABE8B0-4FDF-4113-A10F-F083D5669125}" presName="sp" presStyleCnt="0"/>
      <dgm:spPr/>
    </dgm:pt>
    <dgm:pt modelId="{06659776-60D6-45DA-A76D-AC0F1AEB81D8}" type="pres">
      <dgm:prSet presAssocID="{5C91FFA3-B431-4EDF-9E66-ED99684533B3}" presName="composite" presStyleCnt="0"/>
      <dgm:spPr/>
    </dgm:pt>
    <dgm:pt modelId="{A8851C64-4F6A-4E6E-A578-A73A3DD66D49}" type="pres">
      <dgm:prSet presAssocID="{5C91FFA3-B431-4EDF-9E66-ED99684533B3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31BFC68E-2EFB-4DE8-9762-9DE51B76DAA3}" type="pres">
      <dgm:prSet presAssocID="{5C91FFA3-B431-4EDF-9E66-ED99684533B3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1ED93303-3D6B-40A0-ACE9-D99CE88825D1}" type="presOf" srcId="{FF8DF1FE-9A44-4473-8E42-498196CA08DB}" destId="{E2432EB5-EF9E-476A-A43B-3956E08B5351}" srcOrd="0" destOrd="5" presId="urn:microsoft.com/office/officeart/2005/8/layout/chevron2"/>
    <dgm:cxn modelId="{684A1005-67C6-4F0C-9373-E1C9E3336AE3}" type="presOf" srcId="{9BD53847-F8EB-4748-8D3F-B5D876120075}" destId="{5F94363B-0B9F-4F93-A923-B51CCD0D41E6}" srcOrd="0" destOrd="0" presId="urn:microsoft.com/office/officeart/2005/8/layout/chevron2"/>
    <dgm:cxn modelId="{A8807512-0E4D-480F-9570-C4966FC3B4A9}" type="presOf" srcId="{C39C6D62-C906-4EF0-AD23-89DB874CF774}" destId="{31BFC68E-2EFB-4DE8-9762-9DE51B76DAA3}" srcOrd="0" destOrd="3" presId="urn:microsoft.com/office/officeart/2005/8/layout/chevron2"/>
    <dgm:cxn modelId="{021BA234-0D1E-4E8F-840F-9C09AACCD0FA}" type="presOf" srcId="{853B8FC3-6C18-4D42-A9A0-A94FAE4316BD}" destId="{E2432EB5-EF9E-476A-A43B-3956E08B5351}" srcOrd="0" destOrd="0" presId="urn:microsoft.com/office/officeart/2005/8/layout/chevron2"/>
    <dgm:cxn modelId="{DCCE663E-9B46-45E2-982E-13AE3011224D}" type="presOf" srcId="{5C91FFA3-B431-4EDF-9E66-ED99684533B3}" destId="{A8851C64-4F6A-4E6E-A578-A73A3DD66D49}" srcOrd="0" destOrd="0" presId="urn:microsoft.com/office/officeart/2005/8/layout/chevron2"/>
    <dgm:cxn modelId="{CE09F15F-2409-4A67-9A3D-2B14D599FA2D}" srcId="{5C91FFA3-B431-4EDF-9E66-ED99684533B3}" destId="{744F7B0F-4C12-4C02-9150-6A7A7569C726}" srcOrd="2" destOrd="0" parTransId="{A36A92E6-BD0A-420C-9CF3-8898D2709982}" sibTransId="{4AF8555F-A873-4F89-A54F-1AC8527F787F}"/>
    <dgm:cxn modelId="{294BB963-108D-4550-B0D7-2D476A2B4F09}" type="presOf" srcId="{0415AC45-1A08-4C04-B251-4B1D84A133B2}" destId="{E2432EB5-EF9E-476A-A43B-3956E08B5351}" srcOrd="0" destOrd="2" presId="urn:microsoft.com/office/officeart/2005/8/layout/chevron2"/>
    <dgm:cxn modelId="{7CE9D94C-D362-4823-BECC-04E3B57E3213}" srcId="{9BD53847-F8EB-4748-8D3F-B5D876120075}" destId="{5C91FFA3-B431-4EDF-9E66-ED99684533B3}" srcOrd="1" destOrd="0" parTransId="{6258E617-F8FC-42B6-93BC-32FADC5A4453}" sibTransId="{9366DC8D-ADC3-46D8-BABB-0EEBA96F9F55}"/>
    <dgm:cxn modelId="{F579A96F-0F3F-465C-8A57-A51C104792A1}" srcId="{9BD53847-F8EB-4748-8D3F-B5D876120075}" destId="{94EF26C6-01D0-4072-A299-58F02A851695}" srcOrd="0" destOrd="0" parTransId="{D54EA7C7-BB91-44A2-87AD-96522058BC03}" sibTransId="{3EABE8B0-4FDF-4113-A10F-F083D5669125}"/>
    <dgm:cxn modelId="{5B57F451-5771-4090-82B7-F2D312AFFE7A}" srcId="{5C91FFA3-B431-4EDF-9E66-ED99684533B3}" destId="{C39C6D62-C906-4EF0-AD23-89DB874CF774}" srcOrd="3" destOrd="0" parTransId="{5ACFAE5F-4333-491E-BE9F-2934D9185DA6}" sibTransId="{D6632F10-0873-4D98-932A-A73D0EFEB7B6}"/>
    <dgm:cxn modelId="{C9FBCC55-2C41-4E23-AD07-63547A83BDDA}" srcId="{94EF26C6-01D0-4072-A299-58F02A851695}" destId="{782001A8-E59E-4B48-BFB6-96FEE77EB510}" srcOrd="2" destOrd="0" parTransId="{A285789A-82D0-43B6-B253-FD45D0F3A6E9}" sibTransId="{6BEB6B7A-B6E9-4CC9-8069-AD972A5BDD85}"/>
    <dgm:cxn modelId="{8BD8DF56-B65B-4FA9-860A-56BA1334ED2F}" srcId="{94EF26C6-01D0-4072-A299-58F02A851695}" destId="{853B8FC3-6C18-4D42-A9A0-A94FAE4316BD}" srcOrd="0" destOrd="0" parTransId="{9784A418-8645-49E3-8545-07B968611DD3}" sibTransId="{CAC6E122-09F5-4EF7-8353-3E30136AC62B}"/>
    <dgm:cxn modelId="{DBD9C277-42CD-4F9C-9A13-7F735FC8BE26}" type="presOf" srcId="{744F7B0F-4C12-4C02-9150-6A7A7569C726}" destId="{31BFC68E-2EFB-4DE8-9762-9DE51B76DAA3}" srcOrd="0" destOrd="2" presId="urn:microsoft.com/office/officeart/2005/8/layout/chevron2"/>
    <dgm:cxn modelId="{D03D345A-03FC-4979-8D11-1DEDB287279A}" type="presOf" srcId="{4C8E0CD1-C0A6-4ED5-BF98-E2A3C66FC9B5}" destId="{E2432EB5-EF9E-476A-A43B-3956E08B5351}" srcOrd="0" destOrd="1" presId="urn:microsoft.com/office/officeart/2005/8/layout/chevron2"/>
    <dgm:cxn modelId="{4E4CF585-8D39-4B0E-8630-BB28015BB780}" type="presOf" srcId="{94EF26C6-01D0-4072-A299-58F02A851695}" destId="{C6F19009-2D8C-4EFE-A399-9339032F08FC}" srcOrd="0" destOrd="0" presId="urn:microsoft.com/office/officeart/2005/8/layout/chevron2"/>
    <dgm:cxn modelId="{441DDA86-B6C6-474D-ACDC-9EF1BBB0C5F5}" srcId="{782001A8-E59E-4B48-BFB6-96FEE77EB510}" destId="{FF8DF1FE-9A44-4473-8E42-498196CA08DB}" srcOrd="0" destOrd="0" parTransId="{2E99EA61-AFEF-446E-B39B-F16C612293B0}" sibTransId="{05968608-53D3-4368-B772-E1FED0A7F4F3}"/>
    <dgm:cxn modelId="{5F2D929B-1452-403D-B611-12B0939DE21C}" srcId="{5C91FFA3-B431-4EDF-9E66-ED99684533B3}" destId="{FFB42A93-7BE5-4293-9D1E-5291482F849E}" srcOrd="1" destOrd="0" parTransId="{451A91BF-3696-4267-B90B-B316DEF22FA6}" sibTransId="{79B382CE-5461-4334-AB7E-FB2D615F85D4}"/>
    <dgm:cxn modelId="{4E2E9EA9-C623-49E2-B052-03D6ECBC3AA7}" srcId="{94EF26C6-01D0-4072-A299-58F02A851695}" destId="{0415AC45-1A08-4C04-B251-4B1D84A133B2}" srcOrd="1" destOrd="0" parTransId="{701B7F07-C57D-432E-8ACD-9581F338B142}" sibTransId="{A624AF54-97EB-4A70-9095-D526D0A70695}"/>
    <dgm:cxn modelId="{39095CB6-22E8-4CB4-886A-A1DECAAEC768}" type="presOf" srcId="{BC2C778E-414B-412B-B107-1AB73F2CB8BC}" destId="{E2432EB5-EF9E-476A-A43B-3956E08B5351}" srcOrd="0" destOrd="3" presId="urn:microsoft.com/office/officeart/2005/8/layout/chevron2"/>
    <dgm:cxn modelId="{541FC1C7-DEEF-483A-89FF-9572BD7FAFB2}" srcId="{0415AC45-1A08-4C04-B251-4B1D84A133B2}" destId="{BC2C778E-414B-412B-B107-1AB73F2CB8BC}" srcOrd="0" destOrd="0" parTransId="{557E0A29-03B8-48FF-9CD9-29FC96F9BB2D}" sibTransId="{98FAA26E-5AD3-422B-AF4D-263B5A0EA336}"/>
    <dgm:cxn modelId="{D2C1F4CD-128C-413F-9B1B-5D32B7F05DFD}" srcId="{5C91FFA3-B431-4EDF-9E66-ED99684533B3}" destId="{DDCEB072-B48B-438E-97A5-FA24B872312C}" srcOrd="0" destOrd="0" parTransId="{0A0A4130-995A-4726-8567-87C41E2F4725}" sibTransId="{353D8F1D-8474-4F02-B8B9-AF966D9EA4AF}"/>
    <dgm:cxn modelId="{9DE1F8DD-0093-40DA-B5B3-A6DB7069A2DD}" type="presOf" srcId="{782001A8-E59E-4B48-BFB6-96FEE77EB510}" destId="{E2432EB5-EF9E-476A-A43B-3956E08B5351}" srcOrd="0" destOrd="4" presId="urn:microsoft.com/office/officeart/2005/8/layout/chevron2"/>
    <dgm:cxn modelId="{E0CFA7E9-2703-4DF3-8900-72BCFC780A1A}" srcId="{853B8FC3-6C18-4D42-A9A0-A94FAE4316BD}" destId="{4C8E0CD1-C0A6-4ED5-BF98-E2A3C66FC9B5}" srcOrd="0" destOrd="0" parTransId="{B75DB508-4CB1-4B98-93C2-D6695686F10D}" sibTransId="{E51D4050-2685-49E8-BCB9-D23E02272615}"/>
    <dgm:cxn modelId="{33B854F0-3EE1-4896-B005-6F79D1145517}" type="presOf" srcId="{FFB42A93-7BE5-4293-9D1E-5291482F849E}" destId="{31BFC68E-2EFB-4DE8-9762-9DE51B76DAA3}" srcOrd="0" destOrd="1" presId="urn:microsoft.com/office/officeart/2005/8/layout/chevron2"/>
    <dgm:cxn modelId="{0F7E33FF-6795-41EC-B7B3-483E5CBF0BC2}" type="presOf" srcId="{DDCEB072-B48B-438E-97A5-FA24B872312C}" destId="{31BFC68E-2EFB-4DE8-9762-9DE51B76DAA3}" srcOrd="0" destOrd="0" presId="urn:microsoft.com/office/officeart/2005/8/layout/chevron2"/>
    <dgm:cxn modelId="{4D49C78B-D0E4-4A27-8CDA-84839DFC1096}" type="presParOf" srcId="{5F94363B-0B9F-4F93-A923-B51CCD0D41E6}" destId="{EEB109D6-BF7A-47E4-8657-16441790ABDA}" srcOrd="0" destOrd="0" presId="urn:microsoft.com/office/officeart/2005/8/layout/chevron2"/>
    <dgm:cxn modelId="{F696E8B2-2BCB-490E-94AE-6EB2BB374B46}" type="presParOf" srcId="{EEB109D6-BF7A-47E4-8657-16441790ABDA}" destId="{C6F19009-2D8C-4EFE-A399-9339032F08FC}" srcOrd="0" destOrd="0" presId="urn:microsoft.com/office/officeart/2005/8/layout/chevron2"/>
    <dgm:cxn modelId="{B58F1612-02FE-41C2-B7C5-3596B2E58F92}" type="presParOf" srcId="{EEB109D6-BF7A-47E4-8657-16441790ABDA}" destId="{E2432EB5-EF9E-476A-A43B-3956E08B5351}" srcOrd="1" destOrd="0" presId="urn:microsoft.com/office/officeart/2005/8/layout/chevron2"/>
    <dgm:cxn modelId="{55E4510D-2F77-4B2F-B2C3-9857C1DCD300}" type="presParOf" srcId="{5F94363B-0B9F-4F93-A923-B51CCD0D41E6}" destId="{D738F40A-1BE9-4306-8894-4E0151816922}" srcOrd="1" destOrd="0" presId="urn:microsoft.com/office/officeart/2005/8/layout/chevron2"/>
    <dgm:cxn modelId="{9D02E4FF-5103-4A17-84BD-9BB922FAE20A}" type="presParOf" srcId="{5F94363B-0B9F-4F93-A923-B51CCD0D41E6}" destId="{06659776-60D6-45DA-A76D-AC0F1AEB81D8}" srcOrd="2" destOrd="0" presId="urn:microsoft.com/office/officeart/2005/8/layout/chevron2"/>
    <dgm:cxn modelId="{602B908F-8C8E-4AE6-B89B-A3B1F295483B}" type="presParOf" srcId="{06659776-60D6-45DA-A76D-AC0F1AEB81D8}" destId="{A8851C64-4F6A-4E6E-A578-A73A3DD66D49}" srcOrd="0" destOrd="0" presId="urn:microsoft.com/office/officeart/2005/8/layout/chevron2"/>
    <dgm:cxn modelId="{2A0433A7-0B25-4E3B-BD26-F1A5B113B9B3}" type="presParOf" srcId="{06659776-60D6-45DA-A76D-AC0F1AEB81D8}" destId="{31BFC68E-2EFB-4DE8-9762-9DE51B76DAA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19009-2D8C-4EFE-A399-9339032F08FC}">
      <dsp:nvSpPr>
        <dsp:cNvPr id="0" name=""/>
        <dsp:cNvSpPr/>
      </dsp:nvSpPr>
      <dsp:spPr>
        <a:xfrm rot="5400000">
          <a:off x="-453353" y="460906"/>
          <a:ext cx="3022356" cy="211564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kern="1200" dirty="0"/>
            <a:t>軟體模擬</a:t>
          </a:r>
        </a:p>
      </dsp:txBody>
      <dsp:txXfrm rot="-5400000">
        <a:off x="1" y="1065378"/>
        <a:ext cx="2115649" cy="906707"/>
      </dsp:txXfrm>
    </dsp:sp>
    <dsp:sp modelId="{E2432EB5-EF9E-476A-A43B-3956E08B5351}">
      <dsp:nvSpPr>
        <dsp:cNvPr id="0" name=""/>
        <dsp:cNvSpPr/>
      </dsp:nvSpPr>
      <dsp:spPr>
        <a:xfrm rot="5400000">
          <a:off x="4400029" y="-2276826"/>
          <a:ext cx="1964531" cy="65332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400" kern="1200" dirty="0"/>
            <a:t>1.</a:t>
          </a:r>
          <a:r>
            <a:rPr lang="zh-TW" altLang="en-US" sz="1400" kern="1200" dirty="0"/>
            <a:t>顏色預篩選（候選區域提取）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TW" altLang="en-US" sz="1400" kern="1200" dirty="0"/>
            <a:t>火一定有紅色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400" kern="1200" dirty="0"/>
            <a:t>2.</a:t>
          </a:r>
          <a:r>
            <a:rPr lang="zh-TW" altLang="en-US" sz="1400" kern="1200" dirty="0"/>
            <a:t>計算密集光流（</a:t>
          </a:r>
          <a:r>
            <a:rPr lang="en-US" altLang="zh-TW" sz="1400" kern="1200" dirty="0"/>
            <a:t>Dense Optical Flow</a:t>
          </a:r>
          <a:r>
            <a:rPr lang="zh-TW" altLang="en-US" sz="1400" kern="1200" dirty="0"/>
            <a:t>）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TW" altLang="en-US" sz="1400" b="0" kern="1200" dirty="0"/>
            <a:t>使用 </a:t>
          </a:r>
          <a:r>
            <a:rPr lang="en-US" altLang="zh-TW" sz="1400" b="0" kern="1200" dirty="0"/>
            <a:t>Gunnar </a:t>
          </a:r>
          <a:r>
            <a:rPr lang="en-US" altLang="zh-TW" sz="1400" b="0" kern="1200" dirty="0" err="1"/>
            <a:t>Farneback</a:t>
          </a:r>
          <a:r>
            <a:rPr lang="en-US" altLang="zh-TW" sz="1400" b="0" kern="1200" dirty="0"/>
            <a:t> </a:t>
          </a:r>
          <a:r>
            <a:rPr lang="zh-TW" altLang="en-US" sz="1400" b="0" kern="1200" dirty="0"/>
            <a:t>演算法（</a:t>
          </a:r>
          <a:r>
            <a:rPr lang="en-US" altLang="zh-TW" sz="1400" b="0" kern="1200" dirty="0"/>
            <a:t>OpenCV </a:t>
          </a:r>
          <a:r>
            <a:rPr lang="zh-TW" altLang="en-US" sz="1400" b="0" kern="1200" dirty="0"/>
            <a:t>中內建）</a:t>
          </a:r>
          <a:endParaRPr lang="zh-TW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400" kern="1200" dirty="0"/>
            <a:t>3.</a:t>
          </a:r>
          <a:r>
            <a:rPr lang="zh-TW" altLang="en-US" sz="1400" kern="1200" dirty="0"/>
            <a:t>特徵提取與判斷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TW" altLang="en-US" sz="1400" kern="1200" dirty="0"/>
            <a:t>詳細作法在下一頁講解</a:t>
          </a:r>
        </a:p>
      </dsp:txBody>
      <dsp:txXfrm rot="-5400000">
        <a:off x="2115649" y="103454"/>
        <a:ext cx="6437391" cy="1772731"/>
      </dsp:txXfrm>
    </dsp:sp>
    <dsp:sp modelId="{A8851C64-4F6A-4E6E-A578-A73A3DD66D49}">
      <dsp:nvSpPr>
        <dsp:cNvPr id="0" name=""/>
        <dsp:cNvSpPr/>
      </dsp:nvSpPr>
      <dsp:spPr>
        <a:xfrm rot="5400000">
          <a:off x="-453353" y="3203141"/>
          <a:ext cx="3022356" cy="211564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kern="1200" dirty="0"/>
            <a:t>階段性技術驗證</a:t>
          </a:r>
        </a:p>
      </dsp:txBody>
      <dsp:txXfrm rot="-5400000">
        <a:off x="1" y="3807613"/>
        <a:ext cx="2115649" cy="906707"/>
      </dsp:txXfrm>
    </dsp:sp>
    <dsp:sp modelId="{31BFC68E-2EFB-4DE8-9762-9DE51B76DAA3}">
      <dsp:nvSpPr>
        <dsp:cNvPr id="0" name=""/>
        <dsp:cNvSpPr/>
      </dsp:nvSpPr>
      <dsp:spPr>
        <a:xfrm rot="5400000">
          <a:off x="4400029" y="465408"/>
          <a:ext cx="1964531" cy="65332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/>
            <a:t>1.</a:t>
          </a:r>
          <a:r>
            <a:rPr lang="zh-TW" altLang="en-US" sz="1600" kern="1200" dirty="0"/>
            <a:t>使用</a:t>
          </a:r>
          <a:r>
            <a:rPr lang="en-US" altLang="zh-TW" sz="1600" kern="1200" dirty="0"/>
            <a:t>FPGA</a:t>
          </a:r>
          <a:r>
            <a:rPr lang="zh-TW" altLang="en-US" sz="1600" kern="1200" dirty="0"/>
            <a:t>連接螢幕播放影片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/>
            <a:t>2.</a:t>
          </a:r>
          <a:r>
            <a:rPr lang="zh-TW" altLang="en-US" sz="1600" kern="1200" dirty="0"/>
            <a:t>播放影片時讓紅色方框在畫面上移動</a:t>
          </a:r>
          <a:endParaRPr lang="en-US" altLang="zh-TW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/>
            <a:t>3.</a:t>
          </a:r>
          <a:r>
            <a:rPr lang="zh-TW" altLang="en-US" sz="1600" kern="1200" dirty="0"/>
            <a:t>將程式轉為硬體描述語言並進行模擬</a:t>
          </a:r>
          <a:r>
            <a:rPr lang="en-US" altLang="zh-TW" sz="1600" kern="1200" dirty="0"/>
            <a:t>(</a:t>
          </a:r>
          <a:r>
            <a:rPr lang="zh-TW" altLang="en-US" sz="1600" kern="1200" dirty="0"/>
            <a:t>輸出方框的</a:t>
          </a:r>
          <a:r>
            <a:rPr lang="en-US" altLang="zh-TW" sz="1600" kern="1200" dirty="0"/>
            <a:t>XY</a:t>
          </a:r>
          <a:r>
            <a:rPr lang="zh-TW" altLang="en-US" sz="1600" kern="1200" dirty="0"/>
            <a:t>位置</a:t>
          </a:r>
          <a:r>
            <a:rPr lang="en-US" altLang="zh-TW" sz="1600" kern="1200" dirty="0"/>
            <a:t>)</a:t>
          </a:r>
          <a:endParaRPr lang="zh-TW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/>
            <a:t>4.</a:t>
          </a:r>
          <a:r>
            <a:rPr lang="zh-TW" altLang="en-US" sz="1600" kern="1200" dirty="0"/>
            <a:t>完成專案，讓方框鎖定在影片中火焰的位置，若出錯則回上一步</a:t>
          </a:r>
        </a:p>
      </dsp:txBody>
      <dsp:txXfrm rot="-5400000">
        <a:off x="2115649" y="2845688"/>
        <a:ext cx="6437391" cy="17727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36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298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97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09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18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62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10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35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02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80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407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5922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952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2159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739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6795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471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059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16E01A91-7F84-E6D8-6A33-D2B6550219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4741"/>
              </p:ext>
            </p:extLst>
          </p:nvPr>
        </p:nvGraphicFramePr>
        <p:xfrm>
          <a:off x="262146" y="940279"/>
          <a:ext cx="8648941" cy="5779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C5215853-46B8-AC8C-3C0D-2A1A873F8E89}"/>
              </a:ext>
            </a:extLst>
          </p:cNvPr>
          <p:cNvSpPr txBox="1"/>
          <p:nvPr/>
        </p:nvSpPr>
        <p:spPr>
          <a:xfrm>
            <a:off x="155274" y="138023"/>
            <a:ext cx="3700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+mj-ea"/>
                <a:ea typeface="+mj-ea"/>
              </a:rPr>
              <a:t>期末專案執行流程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91A80D3-1223-D77F-C21F-77FBE24BF9A8}"/>
              </a:ext>
            </a:extLst>
          </p:cNvPr>
          <p:cNvSpPr txBox="1"/>
          <p:nvPr/>
        </p:nvSpPr>
        <p:spPr>
          <a:xfrm>
            <a:off x="10619119" y="5150317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/>
              <a:t>組員</a:t>
            </a:r>
            <a:r>
              <a:rPr lang="en-US" altLang="zh-TW" sz="3200" dirty="0"/>
              <a:t>:</a:t>
            </a:r>
          </a:p>
          <a:p>
            <a:r>
              <a:rPr lang="zh-TW" altLang="en-US" sz="3200" dirty="0"/>
              <a:t>陳麒瑞</a:t>
            </a:r>
            <a:endParaRPr lang="en-US" altLang="zh-TW" sz="3200" dirty="0"/>
          </a:p>
          <a:p>
            <a:r>
              <a:rPr lang="zh-TW" altLang="en-US" sz="3200" dirty="0"/>
              <a:t>林哲宇</a:t>
            </a:r>
          </a:p>
        </p:txBody>
      </p:sp>
    </p:spTree>
    <p:extLst>
      <p:ext uri="{BB962C8B-B14F-4D97-AF65-F5344CB8AC3E}">
        <p14:creationId xmlns:p14="http://schemas.microsoft.com/office/powerpoint/2010/main" val="4213162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D1DED5C-44AF-836A-FF69-F1B63163E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98" y="1708029"/>
            <a:ext cx="6962607" cy="23808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E52CA7E8-9C99-A42B-41FC-336DA6A83304}"/>
              </a:ext>
            </a:extLst>
          </p:cNvPr>
          <p:cNvSpPr/>
          <p:nvPr/>
        </p:nvSpPr>
        <p:spPr>
          <a:xfrm>
            <a:off x="531613" y="180727"/>
            <a:ext cx="5788324" cy="1004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在提取出的光流場中，套用以下物理判斷</a:t>
            </a:r>
          </a:p>
        </p:txBody>
      </p:sp>
    </p:spTree>
    <p:extLst>
      <p:ext uri="{BB962C8B-B14F-4D97-AF65-F5344CB8AC3E}">
        <p14:creationId xmlns:p14="http://schemas.microsoft.com/office/powerpoint/2010/main" val="420858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1B0996-2DFF-5033-AC63-C1C04732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155" y="312148"/>
            <a:ext cx="10694030" cy="1507067"/>
          </a:xfrm>
        </p:spPr>
        <p:txBody>
          <a:bodyPr>
            <a:normAutofit/>
          </a:bodyPr>
          <a:lstStyle/>
          <a:p>
            <a:r>
              <a:rPr lang="zh-TW" altLang="en-US" dirty="0"/>
              <a:t>核心邏輯：火焰的運動特徵分析</a:t>
            </a:r>
            <a:br>
              <a:rPr lang="en-US" altLang="zh-TW" dirty="0"/>
            </a:br>
            <a:r>
              <a:rPr lang="zh-TW" altLang="en-US" sz="2700" dirty="0"/>
              <a:t>在使用光流法時，我們主要提取以下三個特徵來區分火焰與干擾物：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8F6033-D40B-0EEC-672A-3F9B3624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155" y="1604513"/>
            <a:ext cx="10176445" cy="4339086"/>
          </a:xfrm>
        </p:spPr>
        <p:txBody>
          <a:bodyPr>
            <a:noAutofit/>
          </a:bodyPr>
          <a:lstStyle/>
          <a:p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方向規律性（</a:t>
            </a:r>
            <a:r>
              <a:rPr lang="en-US" altLang="zh-TW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Directionality</a:t>
            </a:r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）： 火焰受浮力影響，整體的</a:t>
            </a:r>
            <a:endParaRPr lang="en-US" altLang="zh-TW" sz="2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運動向量場（</a:t>
            </a:r>
            <a:r>
              <a:rPr lang="en-US" altLang="zh-TW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Flow Field</a:t>
            </a:r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）通常具有明顯的向上性。</a:t>
            </a:r>
            <a:endParaRPr lang="en-US" altLang="zh-TW" sz="2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運動強度（</a:t>
            </a:r>
            <a:r>
              <a:rPr lang="en-US" altLang="zh-TW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Magnitude</a:t>
            </a:r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）： 火焰邊緣閃爍極快，光流向量的</a:t>
            </a:r>
            <a:endParaRPr lang="en-US" altLang="zh-TW" sz="2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大小通常會高於背景雜訊。</a:t>
            </a:r>
            <a:endParaRPr lang="en-US" altLang="zh-TW" sz="2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混亂度</a:t>
            </a:r>
            <a:r>
              <a:rPr lang="en-US" altLang="zh-TW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/</a:t>
            </a:r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亂流（</a:t>
            </a:r>
            <a:r>
              <a:rPr lang="en-US" altLang="zh-TW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Turbulence</a:t>
            </a:r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）： 火焰內部的運動是非常不規律的，向量場的**空間變異數（</a:t>
            </a:r>
            <a:r>
              <a:rPr lang="en-US" altLang="zh-TW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Spatial Variance</a:t>
            </a:r>
            <a:r>
              <a:rPr lang="zh-TW" altLang="en-US" sz="2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）**很大。</a:t>
            </a:r>
          </a:p>
        </p:txBody>
      </p:sp>
    </p:spTree>
    <p:extLst>
      <p:ext uri="{BB962C8B-B14F-4D97-AF65-F5344CB8AC3E}">
        <p14:creationId xmlns:p14="http://schemas.microsoft.com/office/powerpoint/2010/main" val="2825714195"/>
      </p:ext>
    </p:extLst>
  </p:cSld>
  <p:clrMapOvr>
    <a:masterClrMapping/>
  </p:clrMapOvr>
</p:sld>
</file>

<file path=ppt/theme/theme1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109</TotalTime>
  <Words>247</Words>
  <Application>Microsoft Office PowerPoint</Application>
  <PresentationFormat>寬螢幕</PresentationFormat>
  <Paragraphs>23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微軟正黑體</vt:lpstr>
      <vt:lpstr>Century Gothic</vt:lpstr>
      <vt:lpstr>Wingdings 3</vt:lpstr>
      <vt:lpstr>切割線</vt:lpstr>
      <vt:lpstr>PowerPoint 簡報</vt:lpstr>
      <vt:lpstr>PowerPoint 簡報</vt:lpstr>
      <vt:lpstr>核心邏輯：火焰的運動特徵分析 在使用光流法時，我們主要提取以下三個特徵來區分火焰與干擾物：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麒瑞 陳</dc:creator>
  <cp:lastModifiedBy>麒瑞 陳</cp:lastModifiedBy>
  <cp:revision>8</cp:revision>
  <dcterms:created xsi:type="dcterms:W3CDTF">2026-04-28T10:41:34Z</dcterms:created>
  <dcterms:modified xsi:type="dcterms:W3CDTF">2026-06-17T03:58:24Z</dcterms:modified>
</cp:coreProperties>
</file>